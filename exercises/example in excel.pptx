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outlineView">
  <p:normalViewPr showOutlineIcons="0">
    <p:restoredLeft sz="19906" autoAdjust="0"/>
    <p:restoredTop sz="86382" autoAdjust="0"/>
  </p:normalViewPr>
  <p:slideViewPr>
    <p:cSldViewPr snapToGrid="0">
      <p:cViewPr varScale="1">
        <p:scale>
          <a:sx n="80" d="100"/>
          <a:sy n="80" d="100"/>
        </p:scale>
        <p:origin x="486" y="2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tieri, Daniel B" userId="88038a07-e9e9-4d47-b2f4-2e75fd0f311f" providerId="ADAL" clId="{718DDDBB-FB5E-442B-B424-318C6A1D9F7B}"/>
    <pc:docChg chg="addSld modSld">
      <pc:chgData name="Altieri, Daniel B" userId="88038a07-e9e9-4d47-b2f4-2e75fd0f311f" providerId="ADAL" clId="{718DDDBB-FB5E-442B-B424-318C6A1D9F7B}" dt="2026-01-15T16:35:01.196" v="2287" actId="20577"/>
      <pc:docMkLst>
        <pc:docMk/>
      </pc:docMkLst>
      <pc:sldChg chg="addSp modSp">
        <pc:chgData name="Altieri, Daniel B" userId="88038a07-e9e9-4d47-b2f4-2e75fd0f311f" providerId="ADAL" clId="{718DDDBB-FB5E-442B-B424-318C6A1D9F7B}" dt="2026-01-14T17:40:36.754" v="68" actId="1076"/>
        <pc:sldMkLst>
          <pc:docMk/>
          <pc:sldMk cId="598825407" sldId="257"/>
        </pc:sldMkLst>
        <pc:spChg chg="add mod">
          <ac:chgData name="Altieri, Daniel B" userId="88038a07-e9e9-4d47-b2f4-2e75fd0f311f" providerId="ADAL" clId="{718DDDBB-FB5E-442B-B424-318C6A1D9F7B}" dt="2026-01-14T17:40:36.754" v="68" actId="1076"/>
          <ac:spMkLst>
            <pc:docMk/>
            <pc:sldMk cId="598825407" sldId="257"/>
            <ac:spMk id="28" creationId="{61D27139-535D-4A19-2ABA-2183D8C9FFC4}"/>
          </ac:spMkLst>
        </pc:spChg>
      </pc:sldChg>
      <pc:sldChg chg="addSp modSp mod">
        <pc:chgData name="Altieri, Daniel B" userId="88038a07-e9e9-4d47-b2f4-2e75fd0f311f" providerId="ADAL" clId="{718DDDBB-FB5E-442B-B424-318C6A1D9F7B}" dt="2026-01-14T17:57:03.982" v="529" actId="208"/>
        <pc:sldMkLst>
          <pc:docMk/>
          <pc:sldMk cId="3132434618" sldId="258"/>
        </pc:sldMkLst>
        <pc:spChg chg="add mod">
          <ac:chgData name="Altieri, Daniel B" userId="88038a07-e9e9-4d47-b2f4-2e75fd0f311f" providerId="ADAL" clId="{718DDDBB-FB5E-442B-B424-318C6A1D9F7B}" dt="2026-01-14T17:41:46.811" v="121" actId="1076"/>
          <ac:spMkLst>
            <pc:docMk/>
            <pc:sldMk cId="3132434618" sldId="258"/>
            <ac:spMk id="25" creationId="{D170D3E4-74AC-A7A2-8AB8-3F9383B24989}"/>
          </ac:spMkLst>
        </pc:spChg>
        <pc:spChg chg="add mod">
          <ac:chgData name="Altieri, Daniel B" userId="88038a07-e9e9-4d47-b2f4-2e75fd0f311f" providerId="ADAL" clId="{718DDDBB-FB5E-442B-B424-318C6A1D9F7B}" dt="2026-01-14T17:54:25.328" v="465" actId="1076"/>
          <ac:spMkLst>
            <pc:docMk/>
            <pc:sldMk cId="3132434618" sldId="258"/>
            <ac:spMk id="26" creationId="{D3ABD22E-D6C5-2158-DBF5-B1209316A2B2}"/>
          </ac:spMkLst>
        </pc:spChg>
        <pc:spChg chg="add mod">
          <ac:chgData name="Altieri, Daniel B" userId="88038a07-e9e9-4d47-b2f4-2e75fd0f311f" providerId="ADAL" clId="{718DDDBB-FB5E-442B-B424-318C6A1D9F7B}" dt="2026-01-14T17:55:40.807" v="477" actId="1076"/>
          <ac:spMkLst>
            <pc:docMk/>
            <pc:sldMk cId="3132434618" sldId="258"/>
            <ac:spMk id="27" creationId="{60043831-2D6D-F65C-4519-6A33BF29C352}"/>
          </ac:spMkLst>
        </pc:spChg>
        <pc:spChg chg="add mod">
          <ac:chgData name="Altieri, Daniel B" userId="88038a07-e9e9-4d47-b2f4-2e75fd0f311f" providerId="ADAL" clId="{718DDDBB-FB5E-442B-B424-318C6A1D9F7B}" dt="2026-01-14T17:56:59.084" v="528" actId="1076"/>
          <ac:spMkLst>
            <pc:docMk/>
            <pc:sldMk cId="3132434618" sldId="258"/>
            <ac:spMk id="28" creationId="{96A9B8D5-09B5-7B83-672D-E8F52E0586C5}"/>
          </ac:spMkLst>
        </pc:spChg>
        <pc:spChg chg="add mod">
          <ac:chgData name="Altieri, Daniel B" userId="88038a07-e9e9-4d47-b2f4-2e75fd0f311f" providerId="ADAL" clId="{718DDDBB-FB5E-442B-B424-318C6A1D9F7B}" dt="2026-01-14T17:57:03.982" v="529" actId="208"/>
          <ac:spMkLst>
            <pc:docMk/>
            <pc:sldMk cId="3132434618" sldId="258"/>
            <ac:spMk id="30" creationId="{0DADFB40-0381-6EFE-475B-38C75BEE739B}"/>
          </ac:spMkLst>
        </pc:spChg>
        <pc:picChg chg="mod">
          <ac:chgData name="Altieri, Daniel B" userId="88038a07-e9e9-4d47-b2f4-2e75fd0f311f" providerId="ADAL" clId="{718DDDBB-FB5E-442B-B424-318C6A1D9F7B}" dt="2026-01-14T17:41:37.591" v="119" actId="1076"/>
          <ac:picMkLst>
            <pc:docMk/>
            <pc:sldMk cId="3132434618" sldId="258"/>
            <ac:picMk id="2" creationId="{9F2EF64E-25D5-9CB6-7CCF-D5BE72AD709B}"/>
          </ac:picMkLst>
        </pc:picChg>
      </pc:sldChg>
      <pc:sldChg chg="addSp modSp new">
        <pc:chgData name="Altieri, Daniel B" userId="88038a07-e9e9-4d47-b2f4-2e75fd0f311f" providerId="ADAL" clId="{718DDDBB-FB5E-442B-B424-318C6A1D9F7B}" dt="2026-01-15T16:28:41.624" v="1858" actId="20577"/>
        <pc:sldMkLst>
          <pc:docMk/>
          <pc:sldMk cId="3178653340" sldId="259"/>
        </pc:sldMkLst>
        <pc:spChg chg="mod">
          <ac:chgData name="Altieri, Daniel B" userId="88038a07-e9e9-4d47-b2f4-2e75fd0f311f" providerId="ADAL" clId="{718DDDBB-FB5E-442B-B424-318C6A1D9F7B}" dt="2026-01-15T16:17:19.105" v="539" actId="20577"/>
          <ac:spMkLst>
            <pc:docMk/>
            <pc:sldMk cId="3178653340" sldId="259"/>
            <ac:spMk id="2" creationId="{4F43889F-72D3-06B5-1B2D-F38F85F02AB7}"/>
          </ac:spMkLst>
        </pc:spChg>
        <pc:spChg chg="add mod">
          <ac:chgData name="Altieri, Daniel B" userId="88038a07-e9e9-4d47-b2f4-2e75fd0f311f" providerId="ADAL" clId="{718DDDBB-FB5E-442B-B424-318C6A1D9F7B}" dt="2026-01-15T16:28:41.624" v="1858" actId="20577"/>
          <ac:spMkLst>
            <pc:docMk/>
            <pc:sldMk cId="3178653340" sldId="259"/>
            <ac:spMk id="3" creationId="{F2F630F8-BD36-09EE-5963-EBB605DD547C}"/>
          </ac:spMkLst>
        </pc:spChg>
      </pc:sldChg>
      <pc:sldChg chg="addSp modSp add">
        <pc:chgData name="Altieri, Daniel B" userId="88038a07-e9e9-4d47-b2f4-2e75fd0f311f" providerId="ADAL" clId="{718DDDBB-FB5E-442B-B424-318C6A1D9F7B}" dt="2026-01-15T16:35:01.196" v="2287" actId="20577"/>
        <pc:sldMkLst>
          <pc:docMk/>
          <pc:sldMk cId="1030730952" sldId="260"/>
        </pc:sldMkLst>
        <pc:spChg chg="mod">
          <ac:chgData name="Altieri, Daniel B" userId="88038a07-e9e9-4d47-b2f4-2e75fd0f311f" providerId="ADAL" clId="{718DDDBB-FB5E-442B-B424-318C6A1D9F7B}" dt="2026-01-15T16:29:08.231" v="1895" actId="20577"/>
          <ac:spMkLst>
            <pc:docMk/>
            <pc:sldMk cId="1030730952" sldId="260"/>
            <ac:spMk id="2" creationId="{6DF5276F-E94B-01A3-6F2F-04B5D440E490}"/>
          </ac:spMkLst>
        </pc:spChg>
        <pc:spChg chg="add mod">
          <ac:chgData name="Altieri, Daniel B" userId="88038a07-e9e9-4d47-b2f4-2e75fd0f311f" providerId="ADAL" clId="{718DDDBB-FB5E-442B-B424-318C6A1D9F7B}" dt="2026-01-15T16:35:01.196" v="2287" actId="20577"/>
          <ac:spMkLst>
            <pc:docMk/>
            <pc:sldMk cId="1030730952" sldId="260"/>
            <ac:spMk id="3" creationId="{6002534B-D227-3773-F382-A5DC51D54ADA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17:38:21.9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 24575,'0'0'0,"0"-2"0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17:38:25.9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17:38:33.8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17:29:34.2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1 583 24575,'0'0'0,"0"0"0,0-2 0,0-3 0,2-2 0,4-4 0,6-4 0,10-10 0,14-15 0,18-19 0,18-17 0,16-13 0,17-5 0,2 5 0,-17 19-8191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17:29:35.4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17:29:36.1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1 192 24575,'0'0'0,"0"0"0,0 0 0,0 0 0,2-2 0,5-4 0,10-6 0,17-4 0,19-3 0,26-3 0,27-3 0,19-6 0,-3 0 0,-21 4-8191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17:29:36.9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0 0,1 3 0,0-2 0,0 1 0,0-1 0,0 1 0,0-1 0,0 1 0,0-1 0,0 0 0,0 0 0,1 1 0,1 0 0,7 7 0,95 92 0,503 450-1877,-509-465-4437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17:29:37.8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24575,'0'0'0,"0"0"0,0 2 0,0 4 0,4 14 0,11 24 0,20 34 0,28 39 0,28 38 0,26 27-1306,18 10 1306,4-11 0,-16-31 0,-29-39-6885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17:29:38.5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452 1 24575,'0'0'0,"-2"2"0,-3 2 0,-2 4 0,-3 4 0,-7 8 0,-5 9 0,-12 16 0,-10 23 0,-11 26 0,-4 30 0,-2 31 0,6 17 0,8-12-598,14-33-6995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17:29:39.3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576 0 24575,'0'0'0,"-3"2"0,-1 3 0,-7 2 0,-9 6 0,-11 10 0,-12 15 0,-10 19 0,-8 19 0,-8 23 0,-9 28 0,-26 74 0,6 2-8191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17:29:39.9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750 1 24575,'0'0'0,"-2"2"0,-4 4 0,-8 10 0,-10 13 0,-11 18 0,-18 26 0,-20 33 0,-21 35 0,-26 39 0,-47 78-2478,5-6-3235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17:29:40.6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874 0 24575,'-2'2'0,"-4"3"0,-12 4 0,-13 7 0,-23 12 0,-32 19 0,-30 19 0,-29 21 0,-64 48-1778,2 0-4635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17:29:41.2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1599 0 24575,'-2'0'0,"-9"2"0,-15 5 0,-25 8 0,-33 14 0,-35 16 0,-31 15 0,-25 16 0,-23 14-1152,-15 13 1152,-5 10-1581,21-5 1581,43-22-5458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17:29:41.8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920 334 24575,'-2'0'0,"-8"0"0,-19-4 0,-19-5 0,-17-5 0,-13-4 0,-11-7 0,-9-7 0,-8-8 0,-3-6 0,-1-6 0,11 1 0,22 8-8191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17:29:42.4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1341 745 24575,'-4'0'0,"-11"-4"0,-24-5 0,-35-9 0,-35-15 0,-29-24 0,-24-24 0,-15-20-951,-3-10 951,7-10 0,20 6 0,36 21-7240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17:29:43.0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1138 1495 24575,'0'0'0,"-4"-2"0,-9-6 0,-18-12 0,-24-22 0,-29-31 0,-25-32 0,-19-31 0,-14-28-1293,-3-23 1293,3-24 0,-10-69 0,19 14-6898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17:29:43.8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353 1199 24575,'-2'-5'0,"-6"-12"0,-12-29 0,-12-43 0,-10-47 0,-10-38 0,-6-31-1860,-13-65 1860,4 14-6331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17:29:44.4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102 798 24575,'-2'-6'0,"-6"-27"0,-8-54 0,-5-65 0,-7-104 0,2-7-8191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17:29:44.9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1977 24575,'0'0'0,"-3"-4"0,1-7 0,-1-17 0,5-36 0,7-41 0,15-56 0,15-67 0,18-57-2321,17-44 2321,20-69-3898,-6 34 1926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17:29:45.3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1362 24575,'-2'0'0,"-3"-5"0,0-26 0,6-53 0,23-85 0,38-111 0,49-120-5423,6 8 2655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4T17:29:46.0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0 827 24575,'0'0'0,"2"-4"0,10-13 0,27-27 0,43-45 0,52-66 0,68-101 0,0-6-8191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E2AD1C-5483-4AA4-94F9-46A293B5F942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48B91F-6C50-4CD1-988D-CABF81F7F1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706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our example, we are happy to accept that there will be a difference of a person’s weight since we know there are some biological differences in body structure between those identified as male or female at birth.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48B91F-6C50-4CD1-988D-CABF81F7F11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5803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estimate model parameters  - how</a:t>
            </a:r>
            <a:r>
              <a:rPr lang="en-US" baseline="0" dirty="0"/>
              <a:t> much of the variance observed can be accounted for by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48B91F-6C50-4CD1-988D-CABF81F7F11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827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53D93-8401-9E05-4FA4-F067C2FDBC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F534C3-66FC-5242-0A29-9BF465F18E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5E140-E94E-D24A-8665-B268F75A1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87CE8-4F61-4943-935E-C48715F65355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4EE8E-24E8-B316-D54D-982C1ABFF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25C9F4-FA22-EC19-37AE-1671570BB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6670-FEEF-430B-AF14-A2CF1C58A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675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E3644-29DD-C7D1-EDB1-CE6274C5A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7944F-D69B-3FEE-6593-B08E614E8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8E6D2-8ED4-B0CB-7D1E-E1982E603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87CE8-4F61-4943-935E-C48715F65355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33B6D-8F34-27DC-A1E8-D85F75181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B729A3-E9D7-AAFD-C758-E91764BE7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6670-FEEF-430B-AF14-A2CF1C58A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482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F0323-4AA9-A348-0CA3-69242686A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8AAAF3-2F7D-97E4-99D0-426A1148F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DA3AD-4A30-D0B5-351F-7F76B017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87CE8-4F61-4943-935E-C48715F65355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7BB99-D714-61C7-5097-E4297F447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298F5-76AC-C406-D198-1C9C06C99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6670-FEEF-430B-AF14-A2CF1C58A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457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67AA2-DD5A-E614-F3F5-CCD8EEB92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46A0C-5BA6-1A89-2CFA-6BB31BEFA4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411EFD-E9EB-CF71-563D-DC28383C6B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D2ECD1-0D19-83D3-A169-64A1067F2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87CE8-4F61-4943-935E-C48715F65355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6FFA1A-2ADA-9ECA-099A-5A28EEA49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7F8441-7AD9-75FB-C270-B3177D308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6670-FEEF-430B-AF14-A2CF1C58A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250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11822-048C-EC70-1D12-CD6C5A8B5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044EAF-37BB-14F1-05E1-4679895000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9C87BA-F87C-A50F-A4F0-325D41BD38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EEE153-06D0-4B82-A309-B24EABBFAF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1A88C7-D38D-F3B4-2323-12CD25B20D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6AF970-BCBD-F7E8-2A36-8034D9153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87CE8-4F61-4943-935E-C48715F65355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DD0FF7-550F-8609-3701-CCB885D46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609588-EC52-DFD5-FD2F-B0AADA9C8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6670-FEEF-430B-AF14-A2CF1C58A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486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36AC8-F5CC-AD69-11C8-353B737E7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DF2F1F-A446-47A7-7FC1-750841C32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87CE8-4F61-4943-935E-C48715F65355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C32F08-50C7-553C-0E51-E88715F5B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AA11F6-D969-755A-D44C-D7D6E2F5D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6670-FEEF-430B-AF14-A2CF1C58A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73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A42E83-FE90-F5E0-B652-ACA1DDC14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87CE8-4F61-4943-935E-C48715F65355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887B53-6ED7-DADA-7C98-F8B738007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AC4EA0-BE08-3425-F21F-4E8309881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6670-FEEF-430B-AF14-A2CF1C58A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61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48A8A-1406-6DFD-7157-E5383C524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168E8-5A51-1983-0424-B053E054A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B7185B-BC65-936B-13C5-5F70732E30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B74D02-644C-6FC3-0388-75DFFEE91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87CE8-4F61-4943-935E-C48715F65355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75BF82-9020-0DD1-C5B8-F141AA166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243115-E767-660D-D09D-F9E6EB759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6670-FEEF-430B-AF14-A2CF1C58A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271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2D428-C664-2EE2-D63F-78320CE80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3B6B5C-CF99-3C75-856D-0D5ADF90F3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3E5F6D-36F6-18E7-5EDA-8A273E3C5C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9A3AAD-56B1-9C58-30DC-C88A859EE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87CE8-4F61-4943-935E-C48715F65355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FDFA22-37A0-E578-4125-1D68120DB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0E81D9-1FDA-0414-2A6D-B5BA7DD07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6670-FEEF-430B-AF14-A2CF1C58A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779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1FB37-A27C-8247-947A-3235E21C1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522FA8-AB32-ABF0-FE1A-4527B232C7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CED77-48A9-9A8D-A766-16BA0A267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87CE8-4F61-4943-935E-C48715F65355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594D32-53FF-49A1-DF20-39BA621B4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F8D3C-4D07-B807-4B1D-A85F11326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6670-FEEF-430B-AF14-A2CF1C58A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123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94119F-6AEC-B3B4-864D-592E560B3A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C73C86-6F2D-D035-294C-F0237AB247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2C013-748D-6C81-71C4-8FB167F3F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87CE8-4F61-4943-935E-C48715F65355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98353-2078-2E11-856D-DA67C583B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B0C92-3C33-921F-EA4D-6718EB7F1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96670-FEEF-430B-AF14-A2CF1C58A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674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5E32BE-780B-5053-4321-83A710C6F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F01CA-0DB3-4AEE-F207-A82D1F918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68AC1-2107-D9E2-CF97-A56030C894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387CE8-4F61-4943-935E-C48715F65355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E8CFC-871D-BCDE-7D2E-D6F61B69C1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BA375-CCC5-401B-9570-548B081D16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096670-FEEF-430B-AF14-A2CF1C58AD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012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.png"/><Relationship Id="rId18" Type="http://schemas.openxmlformats.org/officeDocument/2006/relationships/customXml" Target="../ink/ink11.xml"/><Relationship Id="rId26" Type="http://schemas.openxmlformats.org/officeDocument/2006/relationships/customXml" Target="../ink/ink15.xml"/><Relationship Id="rId39" Type="http://schemas.openxmlformats.org/officeDocument/2006/relationships/image" Target="../media/image20.png"/><Relationship Id="rId21" Type="http://schemas.openxmlformats.org/officeDocument/2006/relationships/image" Target="../media/image11.png"/><Relationship Id="rId34" Type="http://schemas.openxmlformats.org/officeDocument/2006/relationships/customXml" Target="../ink/ink19.xml"/><Relationship Id="rId7" Type="http://schemas.openxmlformats.org/officeDocument/2006/relationships/image" Target="../media/image2.png"/><Relationship Id="rId12" Type="http://schemas.openxmlformats.org/officeDocument/2006/relationships/customXml" Target="../ink/ink8.xml"/><Relationship Id="rId17" Type="http://schemas.openxmlformats.org/officeDocument/2006/relationships/image" Target="../media/image9.png"/><Relationship Id="rId25" Type="http://schemas.openxmlformats.org/officeDocument/2006/relationships/image" Target="../media/image13.png"/><Relationship Id="rId33" Type="http://schemas.openxmlformats.org/officeDocument/2006/relationships/image" Target="../media/image17.png"/><Relationship Id="rId38" Type="http://schemas.openxmlformats.org/officeDocument/2006/relationships/customXml" Target="../ink/ink21.xml"/><Relationship Id="rId2" Type="http://schemas.openxmlformats.org/officeDocument/2006/relationships/image" Target="../media/image1.png"/><Relationship Id="rId16" Type="http://schemas.openxmlformats.org/officeDocument/2006/relationships/customXml" Target="../ink/ink10.xml"/><Relationship Id="rId20" Type="http://schemas.openxmlformats.org/officeDocument/2006/relationships/customXml" Target="../ink/ink12.xml"/><Relationship Id="rId29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.xml"/><Relationship Id="rId11" Type="http://schemas.openxmlformats.org/officeDocument/2006/relationships/image" Target="../media/image6.png"/><Relationship Id="rId24" Type="http://schemas.openxmlformats.org/officeDocument/2006/relationships/customXml" Target="../ink/ink14.xml"/><Relationship Id="rId32" Type="http://schemas.openxmlformats.org/officeDocument/2006/relationships/customXml" Target="../ink/ink18.xml"/><Relationship Id="rId37" Type="http://schemas.openxmlformats.org/officeDocument/2006/relationships/image" Target="../media/image19.png"/><Relationship Id="rId5" Type="http://schemas.openxmlformats.org/officeDocument/2006/relationships/image" Target="../media/image4.png"/><Relationship Id="rId15" Type="http://schemas.openxmlformats.org/officeDocument/2006/relationships/image" Target="../media/image8.png"/><Relationship Id="rId23" Type="http://schemas.openxmlformats.org/officeDocument/2006/relationships/image" Target="../media/image12.png"/><Relationship Id="rId28" Type="http://schemas.openxmlformats.org/officeDocument/2006/relationships/customXml" Target="../ink/ink16.xml"/><Relationship Id="rId36" Type="http://schemas.openxmlformats.org/officeDocument/2006/relationships/customXml" Target="../ink/ink20.xml"/><Relationship Id="rId10" Type="http://schemas.openxmlformats.org/officeDocument/2006/relationships/customXml" Target="../ink/ink7.xml"/><Relationship Id="rId19" Type="http://schemas.openxmlformats.org/officeDocument/2006/relationships/image" Target="../media/image10.png"/><Relationship Id="rId31" Type="http://schemas.openxmlformats.org/officeDocument/2006/relationships/image" Target="../media/image16.png"/><Relationship Id="rId4" Type="http://schemas.openxmlformats.org/officeDocument/2006/relationships/customXml" Target="../ink/ink4.xml"/><Relationship Id="rId9" Type="http://schemas.openxmlformats.org/officeDocument/2006/relationships/image" Target="../media/image5.png"/><Relationship Id="rId14" Type="http://schemas.openxmlformats.org/officeDocument/2006/relationships/customXml" Target="../ink/ink9.xml"/><Relationship Id="rId22" Type="http://schemas.openxmlformats.org/officeDocument/2006/relationships/customXml" Target="../ink/ink13.xml"/><Relationship Id="rId27" Type="http://schemas.openxmlformats.org/officeDocument/2006/relationships/image" Target="../media/image14.png"/><Relationship Id="rId30" Type="http://schemas.openxmlformats.org/officeDocument/2006/relationships/customXml" Target="../ink/ink17.xml"/><Relationship Id="rId35" Type="http://schemas.openxmlformats.org/officeDocument/2006/relationships/image" Target="../media/image18.png"/><Relationship Id="rId8" Type="http://schemas.openxmlformats.org/officeDocument/2006/relationships/customXml" Target="../ink/ink6.xml"/><Relationship Id="rId3" Type="http://schemas.openxmlformats.org/officeDocument/2006/relationships/image" Target="../media/image3.tm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BC093-635E-315A-3907-40CF021051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Step by Step Excel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B011F8-260B-01AA-ABEF-549837361E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049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930991-0A40-2FB3-78FC-27C45FB3D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284" y="768625"/>
            <a:ext cx="8517568" cy="34375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0D62B6-191D-DB4F-115E-4C9E99CBE9F1}"/>
              </a:ext>
            </a:extLst>
          </p:cNvPr>
          <p:cNvSpPr txBox="1"/>
          <p:nvPr/>
        </p:nvSpPr>
        <p:spPr>
          <a:xfrm>
            <a:off x="5247623" y="4173309"/>
            <a:ext cx="5764783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r>
              <a:rPr lang="en-US" sz="2400" b="1" dirty="0"/>
              <a:t>Step-by-step t-test in Excel with </a:t>
            </a:r>
            <a:r>
              <a:rPr lang="en-US" sz="2400" b="1" dirty="0" err="1"/>
              <a:t>Xlminer</a:t>
            </a:r>
            <a:endParaRPr lang="en-US" sz="2400" b="1" dirty="0"/>
          </a:p>
          <a:p>
            <a:r>
              <a:rPr lang="en-US" b="1" dirty="0"/>
              <a:t>Step 0 </a:t>
            </a:r>
            <a:r>
              <a:rPr lang="en-US" dirty="0"/>
              <a:t>– Install Statistical Add-in</a:t>
            </a:r>
          </a:p>
          <a:p>
            <a:r>
              <a:rPr lang="en-US" b="1" dirty="0"/>
              <a:t>Step 1 </a:t>
            </a:r>
            <a:r>
              <a:rPr lang="en-US" dirty="0"/>
              <a:t>– select test for your question</a:t>
            </a:r>
          </a:p>
          <a:p>
            <a:r>
              <a:rPr lang="en-US" b="1" dirty="0"/>
              <a:t>Step 2 </a:t>
            </a:r>
            <a:r>
              <a:rPr lang="en-US" dirty="0"/>
              <a:t>– select data*</a:t>
            </a:r>
          </a:p>
          <a:p>
            <a:r>
              <a:rPr lang="en-US" b="1" dirty="0"/>
              <a:t>Step 3 </a:t>
            </a:r>
            <a:r>
              <a:rPr lang="en-US" dirty="0"/>
              <a:t>– confirm mean diff. expected</a:t>
            </a:r>
          </a:p>
          <a:p>
            <a:r>
              <a:rPr lang="en-US" b="1" dirty="0"/>
              <a:t>Step 4 </a:t>
            </a:r>
            <a:r>
              <a:rPr lang="en-US" dirty="0"/>
              <a:t>– define output range</a:t>
            </a:r>
          </a:p>
          <a:p>
            <a:r>
              <a:rPr lang="en-US" b="1" dirty="0"/>
              <a:t>Step 5 </a:t>
            </a:r>
            <a:r>
              <a:rPr lang="en-US" dirty="0"/>
              <a:t>– click OK to run test</a:t>
            </a:r>
          </a:p>
        </p:txBody>
      </p:sp>
      <p:sp>
        <p:nvSpPr>
          <p:cNvPr id="5" name="Arrow: Left 4">
            <a:extLst>
              <a:ext uri="{FF2B5EF4-FFF2-40B4-BE49-F238E27FC236}">
                <a16:creationId xmlns:a16="http://schemas.microsoft.com/office/drawing/2014/main" id="{337DD145-18A0-5108-13D7-430149C054F3}"/>
              </a:ext>
            </a:extLst>
          </p:cNvPr>
          <p:cNvSpPr/>
          <p:nvPr/>
        </p:nvSpPr>
        <p:spPr>
          <a:xfrm>
            <a:off x="6057900" y="2663686"/>
            <a:ext cx="1066800" cy="318051"/>
          </a:xfrm>
          <a:prstGeom prst="lef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8FA6DD9D-93E9-82C7-5459-D74D313F9FF3}"/>
              </a:ext>
            </a:extLst>
          </p:cNvPr>
          <p:cNvSpPr/>
          <p:nvPr/>
        </p:nvSpPr>
        <p:spPr>
          <a:xfrm>
            <a:off x="3469357" y="2663686"/>
            <a:ext cx="1066800" cy="318051"/>
          </a:xfrm>
          <a:prstGeom prst="lef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D71E11BB-5499-0C25-8FC6-81FA2BDC9C17}"/>
              </a:ext>
            </a:extLst>
          </p:cNvPr>
          <p:cNvSpPr/>
          <p:nvPr/>
        </p:nvSpPr>
        <p:spPr>
          <a:xfrm>
            <a:off x="4809123" y="2663686"/>
            <a:ext cx="1066800" cy="318051"/>
          </a:xfrm>
          <a:prstGeom prst="lef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A4CBC5-0355-C558-0032-AAB0249F9101}"/>
              </a:ext>
            </a:extLst>
          </p:cNvPr>
          <p:cNvSpPr/>
          <p:nvPr/>
        </p:nvSpPr>
        <p:spPr>
          <a:xfrm>
            <a:off x="7200900" y="2743200"/>
            <a:ext cx="1387929" cy="1415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557B96EB-E34F-7EBC-71EC-D498B51153AB}"/>
              </a:ext>
            </a:extLst>
          </p:cNvPr>
          <p:cNvSpPr/>
          <p:nvPr/>
        </p:nvSpPr>
        <p:spPr>
          <a:xfrm>
            <a:off x="1561171" y="1091739"/>
            <a:ext cx="772886" cy="3114391"/>
          </a:xfrm>
          <a:prstGeom prst="rightBrace">
            <a:avLst>
              <a:gd name="adj1" fmla="val 8333"/>
              <a:gd name="adj2" fmla="val 5498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B7ADE5-CA20-D908-786C-068D846B0EA6}"/>
              </a:ext>
            </a:extLst>
          </p:cNvPr>
          <p:cNvSpPr txBox="1"/>
          <p:nvPr/>
        </p:nvSpPr>
        <p:spPr>
          <a:xfrm>
            <a:off x="9277818" y="2396962"/>
            <a:ext cx="2376627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*a. Select only the cells for the female data range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A41F24-D594-95C6-DACF-E82F25DB821F}"/>
              </a:ext>
            </a:extLst>
          </p:cNvPr>
          <p:cNvSpPr txBox="1"/>
          <p:nvPr/>
        </p:nvSpPr>
        <p:spPr>
          <a:xfrm>
            <a:off x="9277817" y="2858627"/>
            <a:ext cx="23766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*b. Select only the cells for the female data range</a:t>
            </a:r>
          </a:p>
        </p:txBody>
      </p:sp>
      <p:sp>
        <p:nvSpPr>
          <p:cNvPr id="14" name="Arrow: Left 13">
            <a:extLst>
              <a:ext uri="{FF2B5EF4-FFF2-40B4-BE49-F238E27FC236}">
                <a16:creationId xmlns:a16="http://schemas.microsoft.com/office/drawing/2014/main" id="{4AD51A38-5A46-E6ED-ADC8-CA1D752EF616}"/>
              </a:ext>
            </a:extLst>
          </p:cNvPr>
          <p:cNvSpPr/>
          <p:nvPr/>
        </p:nvSpPr>
        <p:spPr>
          <a:xfrm>
            <a:off x="8678770" y="2602131"/>
            <a:ext cx="534093" cy="318051"/>
          </a:xfrm>
          <a:prstGeom prst="lef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Left 14">
            <a:extLst>
              <a:ext uri="{FF2B5EF4-FFF2-40B4-BE49-F238E27FC236}">
                <a16:creationId xmlns:a16="http://schemas.microsoft.com/office/drawing/2014/main" id="{4CF54868-D8BC-F017-ECB3-1147391742DC}"/>
              </a:ext>
            </a:extLst>
          </p:cNvPr>
          <p:cNvSpPr/>
          <p:nvPr/>
        </p:nvSpPr>
        <p:spPr>
          <a:xfrm>
            <a:off x="8535713" y="2884714"/>
            <a:ext cx="651116" cy="318051"/>
          </a:xfrm>
          <a:prstGeom prst="left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145F6A-B3ED-0C09-7C72-F58C9E56044C}"/>
              </a:ext>
            </a:extLst>
          </p:cNvPr>
          <p:cNvSpPr/>
          <p:nvPr/>
        </p:nvSpPr>
        <p:spPr>
          <a:xfrm>
            <a:off x="9355920" y="2476491"/>
            <a:ext cx="2084966" cy="3821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1C0E32-1E40-D432-BE4B-A717BED3C5C1}"/>
              </a:ext>
            </a:extLst>
          </p:cNvPr>
          <p:cNvSpPr/>
          <p:nvPr/>
        </p:nvSpPr>
        <p:spPr>
          <a:xfrm>
            <a:off x="9297181" y="2929169"/>
            <a:ext cx="2192689" cy="38213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C30AC68F-BC5A-142E-B2BA-89EC5FDCD4AD}"/>
              </a:ext>
            </a:extLst>
          </p:cNvPr>
          <p:cNvSpPr/>
          <p:nvPr/>
        </p:nvSpPr>
        <p:spPr>
          <a:xfrm>
            <a:off x="2220580" y="2654931"/>
            <a:ext cx="1066800" cy="318051"/>
          </a:xfrm>
          <a:prstGeom prst="lef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Left 17">
            <a:extLst>
              <a:ext uri="{FF2B5EF4-FFF2-40B4-BE49-F238E27FC236}">
                <a16:creationId xmlns:a16="http://schemas.microsoft.com/office/drawing/2014/main" id="{7D989A9C-7F32-D287-D943-4A741275E6C7}"/>
              </a:ext>
            </a:extLst>
          </p:cNvPr>
          <p:cNvSpPr/>
          <p:nvPr/>
        </p:nvSpPr>
        <p:spPr>
          <a:xfrm rot="20354005">
            <a:off x="6278211" y="3033061"/>
            <a:ext cx="877661" cy="318051"/>
          </a:xfrm>
          <a:prstGeom prst="left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Left 19">
            <a:extLst>
              <a:ext uri="{FF2B5EF4-FFF2-40B4-BE49-F238E27FC236}">
                <a16:creationId xmlns:a16="http://schemas.microsoft.com/office/drawing/2014/main" id="{66AC54BB-3DEB-8120-A0BA-5D7CD22B11C7}"/>
              </a:ext>
            </a:extLst>
          </p:cNvPr>
          <p:cNvSpPr/>
          <p:nvPr/>
        </p:nvSpPr>
        <p:spPr>
          <a:xfrm rot="20354005">
            <a:off x="5550365" y="3318487"/>
            <a:ext cx="651116" cy="318051"/>
          </a:xfrm>
          <a:prstGeom prst="left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Left 20">
            <a:extLst>
              <a:ext uri="{FF2B5EF4-FFF2-40B4-BE49-F238E27FC236}">
                <a16:creationId xmlns:a16="http://schemas.microsoft.com/office/drawing/2014/main" id="{52A81360-38DB-20CB-4CA0-AF562B6765A3}"/>
              </a:ext>
            </a:extLst>
          </p:cNvPr>
          <p:cNvSpPr/>
          <p:nvPr/>
        </p:nvSpPr>
        <p:spPr>
          <a:xfrm rot="20354005">
            <a:off x="4844356" y="3582610"/>
            <a:ext cx="651116" cy="318051"/>
          </a:xfrm>
          <a:prstGeom prst="left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2233F5-0450-A8CC-2EDE-FD83BCFDEB6C}"/>
              </a:ext>
            </a:extLst>
          </p:cNvPr>
          <p:cNvSpPr txBox="1"/>
          <p:nvPr/>
        </p:nvSpPr>
        <p:spPr>
          <a:xfrm>
            <a:off x="2597070" y="3720631"/>
            <a:ext cx="1724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Male data range starts at cell D113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596058-56E5-B00B-AE72-540D123A6CBF}"/>
              </a:ext>
            </a:extLst>
          </p:cNvPr>
          <p:cNvSpPr/>
          <p:nvPr/>
        </p:nvSpPr>
        <p:spPr>
          <a:xfrm>
            <a:off x="2616433" y="3791173"/>
            <a:ext cx="2192689" cy="38213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FD13767-BD40-DE42-3455-3DC2D0654C92}"/>
              </a:ext>
            </a:extLst>
          </p:cNvPr>
          <p:cNvSpPr/>
          <p:nvPr/>
        </p:nvSpPr>
        <p:spPr>
          <a:xfrm>
            <a:off x="7200899" y="2937692"/>
            <a:ext cx="1387929" cy="14151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FC940862-5E6E-05C4-37A6-13F28DEDEA42}"/>
                  </a:ext>
                </a:extLst>
              </p14:cNvPr>
              <p14:cNvContentPartPr/>
              <p14:nvPr/>
            </p14:nvContentPartPr>
            <p14:xfrm>
              <a:off x="7689300" y="5137303"/>
              <a:ext cx="360" cy="10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FC940862-5E6E-05C4-37A6-13F28DEDEA4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83180" y="5131183"/>
                <a:ext cx="12600" cy="1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574780D-9F23-5D75-F3B7-52F9429BB94F}"/>
                  </a:ext>
                </a:extLst>
              </p14:cNvPr>
              <p14:cNvContentPartPr/>
              <p14:nvPr/>
            </p14:nvContentPartPr>
            <p14:xfrm>
              <a:off x="7393740" y="6047743"/>
              <a:ext cx="360" cy="3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0574780D-9F23-5D75-F3B7-52F9429BB94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87620" y="6041623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39920A0C-A559-DCF8-E441-79B42EBCA4F5}"/>
                  </a:ext>
                </a:extLst>
              </p14:cNvPr>
              <p14:cNvContentPartPr/>
              <p14:nvPr/>
            </p14:nvContentPartPr>
            <p14:xfrm>
              <a:off x="7695780" y="5159623"/>
              <a:ext cx="360" cy="3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39920A0C-A559-DCF8-E441-79B42EBCA4F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89660" y="5153503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8" name="Title 27">
            <a:extLst>
              <a:ext uri="{FF2B5EF4-FFF2-40B4-BE49-F238E27FC236}">
                <a16:creationId xmlns:a16="http://schemas.microsoft.com/office/drawing/2014/main" id="{61D27139-535D-4A19-2ABA-2183D8C9FFC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2754" y="15569"/>
            <a:ext cx="10515600" cy="952611"/>
          </a:xfrm>
        </p:spPr>
        <p:txBody>
          <a:bodyPr>
            <a:normAutofit/>
          </a:bodyPr>
          <a:lstStyle/>
          <a:p>
            <a:r>
              <a:rPr lang="en-US" sz="4000" dirty="0"/>
              <a:t>Question: Is</a:t>
            </a:r>
            <a:r>
              <a:rPr lang="en-US" sz="4000" baseline="0" dirty="0"/>
              <a:t> there a difference in weight by sex?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598825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F2EF64E-25D5-9CB6-7CCF-D5BE72AD7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05" y="1005371"/>
            <a:ext cx="8517568" cy="34375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E5D0C0A-7499-409E-FBA9-18D54AFA79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878" y="2291477"/>
            <a:ext cx="3548088" cy="280513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1497879-B549-9A46-E928-B06C2B587B12}"/>
                  </a:ext>
                </a:extLst>
              </p14:cNvPr>
              <p14:cNvContentPartPr/>
              <p14:nvPr/>
            </p14:nvContentPartPr>
            <p14:xfrm>
              <a:off x="6157860" y="2166943"/>
              <a:ext cx="214200" cy="209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1497879-B549-9A46-E928-B06C2B587B1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51740" y="2160823"/>
                <a:ext cx="226440" cy="22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C4062E0C-3829-7A96-A5F1-95206584AE84}"/>
              </a:ext>
            </a:extLst>
          </p:cNvPr>
          <p:cNvGrpSpPr/>
          <p:nvPr/>
        </p:nvGrpSpPr>
        <p:grpSpPr>
          <a:xfrm>
            <a:off x="6071820" y="3064063"/>
            <a:ext cx="326880" cy="110520"/>
            <a:chOff x="6071820" y="3064063"/>
            <a:chExt cx="326880" cy="11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BF526FE-19C3-C0C0-40EB-0FE954850AF6}"/>
                    </a:ext>
                  </a:extLst>
                </p14:cNvPr>
                <p14:cNvContentPartPr/>
                <p14:nvPr/>
              </p14:nvContentPartPr>
              <p14:xfrm>
                <a:off x="6071820" y="3174223"/>
                <a:ext cx="360" cy="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BF526FE-19C3-C0C0-40EB-0FE954850AF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065700" y="316810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2ED347E-0BB9-F8D6-06F0-4FBA4E09A6DF}"/>
                    </a:ext>
                  </a:extLst>
                </p14:cNvPr>
                <p14:cNvContentPartPr/>
                <p14:nvPr/>
              </p14:nvContentPartPr>
              <p14:xfrm>
                <a:off x="6165780" y="3064063"/>
                <a:ext cx="232920" cy="691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2ED347E-0BB9-F8D6-06F0-4FBA4E09A6D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159660" y="3057943"/>
                  <a:ext cx="245160" cy="8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176CA3F-F14F-93D1-58D1-9A62EC779CD0}"/>
                  </a:ext>
                </a:extLst>
              </p14:cNvPr>
              <p14:cNvContentPartPr/>
              <p14:nvPr/>
            </p14:nvContentPartPr>
            <p14:xfrm>
              <a:off x="6137340" y="3864343"/>
              <a:ext cx="301320" cy="2761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176CA3F-F14F-93D1-58D1-9A62EC779CD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131220" y="3858223"/>
                <a:ext cx="313560" cy="28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074908E-1536-32C1-C82F-4F9E87BBDF0C}"/>
                  </a:ext>
                </a:extLst>
              </p14:cNvPr>
              <p14:cNvContentPartPr/>
              <p14:nvPr/>
            </p14:nvContentPartPr>
            <p14:xfrm>
              <a:off x="6091980" y="4600543"/>
              <a:ext cx="294120" cy="4460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074908E-1536-32C1-C82F-4F9E87BBDF0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085860" y="4594423"/>
                <a:ext cx="306360" cy="45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E130D7E-73D7-7BE1-AF91-651EBCEDF5C4}"/>
                  </a:ext>
                </a:extLst>
              </p14:cNvPr>
              <p14:cNvContentPartPr/>
              <p14:nvPr/>
            </p14:nvContentPartPr>
            <p14:xfrm>
              <a:off x="5239860" y="5233063"/>
              <a:ext cx="162720" cy="3675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E130D7E-73D7-7BE1-AF91-651EBCEDF5C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233740" y="5226943"/>
                <a:ext cx="174960" cy="37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A552F52-DECC-3A58-FC30-84C2B1246A50}"/>
                  </a:ext>
                </a:extLst>
              </p14:cNvPr>
              <p14:cNvContentPartPr/>
              <p14:nvPr/>
            </p14:nvContentPartPr>
            <p14:xfrm>
              <a:off x="4239060" y="5287063"/>
              <a:ext cx="207360" cy="3067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A552F52-DECC-3A58-FC30-84C2B1246A5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232940" y="5280943"/>
                <a:ext cx="219600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CFB7CB0-22E0-8794-A5A8-25956A6BB685}"/>
                  </a:ext>
                </a:extLst>
              </p14:cNvPr>
              <p14:cNvContentPartPr/>
              <p14:nvPr/>
            </p14:nvContentPartPr>
            <p14:xfrm>
              <a:off x="2903100" y="5158543"/>
              <a:ext cx="270360" cy="3999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CFB7CB0-22E0-8794-A5A8-25956A6BB68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896980" y="5152423"/>
                <a:ext cx="282600" cy="41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C8416F0-7029-BFBB-DBAF-33BC73CB739F}"/>
                  </a:ext>
                </a:extLst>
              </p14:cNvPr>
              <p14:cNvContentPartPr/>
              <p14:nvPr/>
            </p14:nvContentPartPr>
            <p14:xfrm>
              <a:off x="1971780" y="5291023"/>
              <a:ext cx="314640" cy="1908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C8416F0-7029-BFBB-DBAF-33BC73CB739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965660" y="5284903"/>
                <a:ext cx="32688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EE49E1E-D27F-097B-E9A9-C3EFC05C8676}"/>
                  </a:ext>
                </a:extLst>
              </p14:cNvPr>
              <p14:cNvContentPartPr/>
              <p14:nvPr/>
            </p14:nvContentPartPr>
            <p14:xfrm>
              <a:off x="1517820" y="4654543"/>
              <a:ext cx="575640" cy="2646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EE49E1E-D27F-097B-E9A9-C3EFC05C867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511700" y="4648423"/>
                <a:ext cx="587880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E87ECB7-0D0E-E571-144B-9E099CDCDAB7}"/>
                  </a:ext>
                </a:extLst>
              </p14:cNvPr>
              <p14:cNvContentPartPr/>
              <p14:nvPr/>
            </p14:nvContentPartPr>
            <p14:xfrm>
              <a:off x="1610340" y="3790183"/>
              <a:ext cx="331560" cy="1206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E87ECB7-0D0E-E571-144B-9E099CDCDAB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604220" y="3784063"/>
                <a:ext cx="343800" cy="13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9FD9F6E7-F773-DBCE-F1B4-E93C563D1E9C}"/>
              </a:ext>
            </a:extLst>
          </p:cNvPr>
          <p:cNvGrpSpPr/>
          <p:nvPr/>
        </p:nvGrpSpPr>
        <p:grpSpPr>
          <a:xfrm>
            <a:off x="1531860" y="2326063"/>
            <a:ext cx="528840" cy="960120"/>
            <a:chOff x="1531860" y="2326063"/>
            <a:chExt cx="528840" cy="96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C2F0BD3-B631-C168-F5D9-C1BBC5C1D88C}"/>
                    </a:ext>
                  </a:extLst>
                </p14:cNvPr>
                <p14:cNvContentPartPr/>
                <p14:nvPr/>
              </p14:nvContentPartPr>
              <p14:xfrm>
                <a:off x="1577940" y="3017983"/>
                <a:ext cx="482760" cy="2682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C2F0BD3-B631-C168-F5D9-C1BBC5C1D88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571820" y="3011863"/>
                  <a:ext cx="49500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A78DAB3-7246-D4AA-2A2C-0A5E2ADDFA4C}"/>
                    </a:ext>
                  </a:extLst>
                </p14:cNvPr>
                <p14:cNvContentPartPr/>
                <p14:nvPr/>
              </p14:nvContentPartPr>
              <p14:xfrm>
                <a:off x="1531860" y="2326063"/>
                <a:ext cx="409680" cy="5385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A78DAB3-7246-D4AA-2A2C-0A5E2ADDFA4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525740" y="2319943"/>
                  <a:ext cx="421920" cy="550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5AB86417-1616-5E7B-444C-C00802C183FA}"/>
                  </a:ext>
                </a:extLst>
              </p14:cNvPr>
              <p14:cNvContentPartPr/>
              <p14:nvPr/>
            </p14:nvContentPartPr>
            <p14:xfrm>
              <a:off x="2142780" y="1581583"/>
              <a:ext cx="127080" cy="43164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5AB86417-1616-5E7B-444C-C00802C183F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136660" y="1575463"/>
                <a:ext cx="139320" cy="44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E9EE3B6C-59DD-7C60-6BC3-B7458DAEBA3F}"/>
                  </a:ext>
                </a:extLst>
              </p14:cNvPr>
              <p14:cNvContentPartPr/>
              <p14:nvPr/>
            </p14:nvContentPartPr>
            <p14:xfrm>
              <a:off x="3181740" y="1580863"/>
              <a:ext cx="36720" cy="2872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E9EE3B6C-59DD-7C60-6BC3-B7458DAEBA3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175620" y="1574743"/>
                <a:ext cx="4896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6900E6E2-857A-3296-A365-D0DBEB30149B}"/>
                  </a:ext>
                </a:extLst>
              </p14:cNvPr>
              <p14:cNvContentPartPr/>
              <p14:nvPr/>
            </p14:nvContentPartPr>
            <p14:xfrm>
              <a:off x="4048980" y="1482943"/>
              <a:ext cx="139680" cy="71208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6900E6E2-857A-3296-A365-D0DBEB30149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042860" y="1476823"/>
                <a:ext cx="151920" cy="72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D602F28-34D6-51F0-371C-AD183D1AD2E9}"/>
                  </a:ext>
                </a:extLst>
              </p14:cNvPr>
              <p14:cNvContentPartPr/>
              <p14:nvPr/>
            </p14:nvContentPartPr>
            <p14:xfrm>
              <a:off x="4885260" y="1650343"/>
              <a:ext cx="113760" cy="49068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D602F28-34D6-51F0-371C-AD183D1AD2E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879140" y="1644223"/>
                <a:ext cx="126000" cy="50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F49224BE-CAE6-230B-FBED-54ED4372ADCB}"/>
                  </a:ext>
                </a:extLst>
              </p14:cNvPr>
              <p14:cNvContentPartPr/>
              <p14:nvPr/>
            </p14:nvContentPartPr>
            <p14:xfrm>
              <a:off x="5546220" y="1620103"/>
              <a:ext cx="242280" cy="2980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F49224BE-CAE6-230B-FBED-54ED4372ADC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540100" y="1613983"/>
                <a:ext cx="254520" cy="31032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itle 24">
            <a:extLst>
              <a:ext uri="{FF2B5EF4-FFF2-40B4-BE49-F238E27FC236}">
                <a16:creationId xmlns:a16="http://schemas.microsoft.com/office/drawing/2014/main" id="{D170D3E4-74AC-A7A2-8AB8-3F9383B2498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26453" y="260499"/>
            <a:ext cx="10515600" cy="977464"/>
          </a:xfrm>
        </p:spPr>
        <p:txBody>
          <a:bodyPr anchor="t"/>
          <a:lstStyle/>
          <a:p>
            <a:r>
              <a:rPr lang="en-US" dirty="0"/>
              <a:t>Results and how to interpret t-test output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3ABD22E-D6C5-2158-DBF5-B1209316A2B2}"/>
              </a:ext>
            </a:extLst>
          </p:cNvPr>
          <p:cNvSpPr txBox="1"/>
          <p:nvPr/>
        </p:nvSpPr>
        <p:spPr>
          <a:xfrm>
            <a:off x="6539232" y="4196844"/>
            <a:ext cx="542583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sz="2400" b="1" dirty="0"/>
              <a:t>Interpret the t-test output</a:t>
            </a:r>
          </a:p>
          <a:p>
            <a:r>
              <a:rPr lang="en-US" b="1" dirty="0"/>
              <a:t>Step 1 </a:t>
            </a:r>
            <a:r>
              <a:rPr lang="en-US" dirty="0"/>
              <a:t>–  what is the p-value?</a:t>
            </a:r>
          </a:p>
          <a:p>
            <a:r>
              <a:rPr lang="en-US" b="1" dirty="0"/>
              <a:t>Step 2 </a:t>
            </a:r>
            <a:r>
              <a:rPr lang="en-US" dirty="0"/>
              <a:t>– if p-value is less than 0.05 we have statistical significance</a:t>
            </a:r>
          </a:p>
          <a:p>
            <a:r>
              <a:rPr lang="en-US" b="1" dirty="0"/>
              <a:t>Step 3 </a:t>
            </a:r>
            <a:r>
              <a:rPr lang="en-US" dirty="0"/>
              <a:t>– evaluate against your hypothesis</a:t>
            </a:r>
          </a:p>
          <a:p>
            <a:r>
              <a:rPr lang="en-US" b="1" dirty="0"/>
              <a:t>Step 4 </a:t>
            </a:r>
            <a:r>
              <a:rPr lang="en-US" dirty="0"/>
              <a:t>– reject or do not reject the null based on p-value compared to confidence</a:t>
            </a:r>
          </a:p>
        </p:txBody>
      </p:sp>
      <p:sp>
        <p:nvSpPr>
          <p:cNvPr id="27" name="Arrow: Left 26">
            <a:extLst>
              <a:ext uri="{FF2B5EF4-FFF2-40B4-BE49-F238E27FC236}">
                <a16:creationId xmlns:a16="http://schemas.microsoft.com/office/drawing/2014/main" id="{60043831-2D6D-F65C-4519-6A33BF29C352}"/>
              </a:ext>
            </a:extLst>
          </p:cNvPr>
          <p:cNvSpPr/>
          <p:nvPr/>
        </p:nvSpPr>
        <p:spPr>
          <a:xfrm rot="1804133">
            <a:off x="4842235" y="4582220"/>
            <a:ext cx="1823546" cy="318051"/>
          </a:xfrm>
          <a:prstGeom prst="leftArrow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Left 27">
            <a:extLst>
              <a:ext uri="{FF2B5EF4-FFF2-40B4-BE49-F238E27FC236}">
                <a16:creationId xmlns:a16="http://schemas.microsoft.com/office/drawing/2014/main" id="{96A9B8D5-09B5-7B83-672D-E8F52E0586C5}"/>
              </a:ext>
            </a:extLst>
          </p:cNvPr>
          <p:cNvSpPr/>
          <p:nvPr/>
        </p:nvSpPr>
        <p:spPr>
          <a:xfrm>
            <a:off x="5754008" y="5693005"/>
            <a:ext cx="651116" cy="318051"/>
          </a:xfrm>
          <a:prstGeom prst="left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ADFB40-0381-6EFE-475B-38C75BEE739B}"/>
              </a:ext>
            </a:extLst>
          </p:cNvPr>
          <p:cNvSpPr txBox="1"/>
          <p:nvPr/>
        </p:nvSpPr>
        <p:spPr>
          <a:xfrm>
            <a:off x="1393938" y="5594493"/>
            <a:ext cx="4372484" cy="64633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1800" baseline="0" dirty="0"/>
              <a:t>H0: There is no</a:t>
            </a:r>
            <a:r>
              <a:rPr lang="en-US" sz="1800" dirty="0"/>
              <a:t> </a:t>
            </a:r>
            <a:r>
              <a:rPr lang="en-US" sz="1800" baseline="0" dirty="0"/>
              <a:t>difference in weight by sex.</a:t>
            </a:r>
          </a:p>
          <a:p>
            <a:r>
              <a:rPr lang="en-US" dirty="0"/>
              <a:t>H1: There is a difference in weight by sex.</a:t>
            </a:r>
          </a:p>
        </p:txBody>
      </p:sp>
    </p:spTree>
    <p:extLst>
      <p:ext uri="{BB962C8B-B14F-4D97-AF65-F5344CB8AC3E}">
        <p14:creationId xmlns:p14="http://schemas.microsoft.com/office/powerpoint/2010/main" val="3132434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3889F-72D3-06B5-1B2D-F38F85F02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what?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F630F8-BD36-09EE-5963-EBB605DD547C}"/>
              </a:ext>
            </a:extLst>
          </p:cNvPr>
          <p:cNvSpPr txBox="1"/>
          <p:nvPr/>
        </p:nvSpPr>
        <p:spPr>
          <a:xfrm>
            <a:off x="1153459" y="1506071"/>
            <a:ext cx="966992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Proving that there is a statistically significant difference offers us the opportunity to then explore what drives that difference. With our simple example, this may not seem very necessary. </a:t>
            </a:r>
          </a:p>
          <a:p>
            <a:endParaRPr lang="en-US" dirty="0"/>
          </a:p>
          <a:p>
            <a:r>
              <a:rPr lang="en-US" dirty="0"/>
              <a:t>What we are asking if we try to determine if we can predict weight by sex is can we predict a </a:t>
            </a:r>
            <a:r>
              <a:rPr lang="en-US" dirty="0" err="1"/>
              <a:t>quantitive</a:t>
            </a:r>
            <a:r>
              <a:rPr lang="en-US" dirty="0"/>
              <a:t> and continuous ratio variable based on a qualitative and categorical variable for a given dataset? </a:t>
            </a:r>
          </a:p>
          <a:p>
            <a:endParaRPr lang="en-US" dirty="0"/>
          </a:p>
          <a:p>
            <a:r>
              <a:rPr lang="en-US" dirty="0"/>
              <a:t>What situations can you think of where this could be helpful in your work or in society as a whole?</a:t>
            </a:r>
          </a:p>
          <a:p>
            <a:r>
              <a:rPr lang="en-US" dirty="0"/>
              <a:t>Where can this “go wrong” instead of being used to help? </a:t>
            </a:r>
          </a:p>
          <a:p>
            <a:r>
              <a:rPr lang="en-US" dirty="0"/>
              <a:t>How do we need to balance the ethics of building a model to do this type of prediction?</a:t>
            </a:r>
          </a:p>
        </p:txBody>
      </p:sp>
    </p:spTree>
    <p:extLst>
      <p:ext uri="{BB962C8B-B14F-4D97-AF65-F5344CB8AC3E}">
        <p14:creationId xmlns:p14="http://schemas.microsoft.com/office/powerpoint/2010/main" val="3178653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5276F-E94B-01A3-6F2F-04B5D440E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Prediction – Regression and ANOVA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02534B-D227-3773-F382-A5DC51D54ADA}"/>
              </a:ext>
            </a:extLst>
          </p:cNvPr>
          <p:cNvSpPr txBox="1"/>
          <p:nvPr/>
        </p:nvSpPr>
        <p:spPr>
          <a:xfrm>
            <a:off x="1153459" y="1506071"/>
            <a:ext cx="966992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two most commonly used prediction tools are the analysis of variance and regression.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There are some key similarities conceptually and mathematically to consider.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both partition variance;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both estimate model parameters using linear modeling frameworks;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both use F‑tests built on ratios of explained vs. unexplained variance.</a:t>
            </a:r>
          </a:p>
          <a:p>
            <a:endParaRPr lang="en-US" dirty="0"/>
          </a:p>
          <a:p>
            <a:r>
              <a:rPr lang="en-US" dirty="0"/>
              <a:t>What are some differences?</a:t>
            </a:r>
          </a:p>
          <a:p>
            <a:r>
              <a:rPr lang="en-US" dirty="0"/>
              <a:t>Why would we need, or prefer, to use one over another?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730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a5a7f39-e3be-4ab3-b450-67fa80faecad}" enabled="0" method="" siteId="{ba5a7f39-e3be-4ab3-b450-67fa80faeca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4534</TotalTime>
  <Words>435</Words>
  <Application>Microsoft Office PowerPoint</Application>
  <PresentationFormat>Widescreen</PresentationFormat>
  <Paragraphs>44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Step by Step Excel</vt:lpstr>
      <vt:lpstr>Question: Is there a difference in weight by sex?</vt:lpstr>
      <vt:lpstr>Results and how to interpret t-test output</vt:lpstr>
      <vt:lpstr>Now what?</vt:lpstr>
      <vt:lpstr>Prediction – Regression and ANOVA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Altieri, Daniel B</dc:creator>
  <cp:lastModifiedBy>Altieri, Daniel B</cp:lastModifiedBy>
  <cp:revision>1</cp:revision>
  <dcterms:created xsi:type="dcterms:W3CDTF">2026-01-14T14:38:01Z</dcterms:created>
  <dcterms:modified xsi:type="dcterms:W3CDTF">2026-01-17T18:12:01Z</dcterms:modified>
</cp:coreProperties>
</file>